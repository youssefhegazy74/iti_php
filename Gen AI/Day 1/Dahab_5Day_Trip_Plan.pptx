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4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2E44"/>
                </a:solidFill>
                <a:latin typeface="Cambria"/>
              </a:rPr>
              <a:t>Estimated Budget Split (EGP, mid-range)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bubble3D val="0"/>
            <c:spPr>
              <a:solidFill>
                <a:srgbClr val="5B7686"/>
              </a:solidFill>
              <a:effectLst/>
            </c:spPr>
          </c:dPt>
          <c:dPt>
            <c:idx val="4"/>
            <c:bubble3D val="0"/>
            <c:spPr>
              <a:solidFill>
                <a:srgbClr val="9BB6C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Accommodation</c:v>
                </c:pt>
                <c:pt idx="1">
                  <c:v>Meals</c:v>
                </c:pt>
                <c:pt idx="2">
                  <c:v>Activities</c:v>
                </c:pt>
                <c:pt idx="3">
                  <c:v>Transport</c:v>
                </c:pt>
                <c:pt idx="4">
                  <c:v>Emergency Fund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4000</c:v>
                </c:pt>
                <c:pt idx="1">
                  <c:v>1750</c:v>
                </c:pt>
                <c:pt idx="2">
                  <c:v>3000</c:v>
                </c:pt>
                <c:pt idx="3">
                  <c:v>1000</c:v>
                </c:pt>
                <c:pt idx="4">
                  <c:v>750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732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2.png"/><Relationship Id="rId6" Type="http://schemas.openxmlformats.org/officeDocument/2006/relationships/image" Target="../media/image-3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image" Target="../media/image-7-1.png"/><Relationship Id="rId10" Type="http://schemas.openxmlformats.org/officeDocument/2006/relationships/image" Target="../media/image-7-1.png"/><Relationship Id="rId11" Type="http://schemas.openxmlformats.org/officeDocument/2006/relationships/image" Target="../media/image-7-1.png"/><Relationship Id="rId12" Type="http://schemas.openxmlformats.org/officeDocument/2006/relationships/image" Target="../media/image-7-1.png"/><Relationship Id="rId13" Type="http://schemas.openxmlformats.org/officeDocument/2006/relationships/image" Target="../media/image-7-1.png"/><Relationship Id="rId14" Type="http://schemas.openxmlformats.org/officeDocument/2006/relationships/image" Target="../media/image-7-1.png"/><Relationship Id="rId15" Type="http://schemas.openxmlformats.org/officeDocument/2006/relationships/image" Target="../media/image-7-1.png"/><Relationship Id="rId16" Type="http://schemas.openxmlformats.org/officeDocument/2006/relationships/image" Target="../media/image-7-1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920240" cy="1920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06440"/>
            <a:ext cx="12188952" cy="3840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190488"/>
            <a:ext cx="12188952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B2E4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8304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DAHAB GETAWAY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of Sea, Sand &amp; Serenity — A Red Sea Escape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Travel Dates]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921240" y="3108960"/>
            <a:ext cx="1463040" cy="14630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0" descr="icon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435" y="329915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Overview &amp;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Dahab, South Sinai, Egypt  |  5 Days / 4 Nights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3816" y="160020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82496" y="1801368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icon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594" y="189646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5256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Hole Diving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Snorkeling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11296" y="160020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9976" y="1801368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icons/mount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074" y="1896466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02736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Sinai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Sunrise Hike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08776" y="160020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77456" y="1801368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icons/ca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4" y="1896466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0216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Bedouin Desert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06256" y="160020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74936" y="1801368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icons/bea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034" y="1896466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97696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Pools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Lagoon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B2E4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548640" y="38679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8K–12K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40080" y="4544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Budget (per person)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15968" y="3703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315968" y="38679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4407408" y="4544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Nights on the Red Sea coast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083296" y="3703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8083296" y="38679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+ Foot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8174736" y="4544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travel modes in &amp; around Dahab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there: Bus/private transfer from Cairo or Sharm El Sheikh Airport  •  Getting around: on foot &amp; bicycle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Itinerary — Days 1 &amp; 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99032"/>
            <a:ext cx="544068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— Arrival &amp; Settling 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icons/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" y="1814718"/>
            <a:ext cx="284196" cy="284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737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34440" y="193852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from Cairo/Sharm to Dahab (bus or private transfer, ~5–8 hrs)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24307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3292998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215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234440" y="341680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Check-in, relax by the Lagoon, light lunch at a beach café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472135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icons/m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4771278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469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234440" y="489508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walk on the promenade; dinner at a Bedouin-style restaurant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9632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9632" y="11430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9632" y="1399032"/>
            <a:ext cx="544068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17"/>
          <p:cNvSpPr/>
          <p:nvPr/>
        </p:nvSpPr>
        <p:spPr>
          <a:xfrm>
            <a:off x="6382512" y="1143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Blue Hole &amp; Snorkeling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382512" y="1764792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4" name="Image 3" descr="icons/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438" y="1814718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1737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885432" y="193852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to the Blue Hole for diving/snorkeling among the reef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82512" y="3243072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icons/wa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38" y="3292998"/>
            <a:ext cx="284196" cy="2841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85432" y="3215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885432" y="341680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at the Blue Hole café; relax by the reef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82512" y="4721352"/>
            <a:ext cx="384048" cy="38404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2" name="Image 5" descr="icons/mo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438" y="4771278"/>
            <a:ext cx="284196" cy="2841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85432" y="469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885432" y="489508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Dahab; free time, shisha café by the sea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Itinerary — Days 3 &amp; 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430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99032"/>
            <a:ext cx="5440680" cy="2468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— Desert Adventure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764792"/>
            <a:ext cx="384048" cy="38404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0" descr="icons/c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" y="1814718"/>
            <a:ext cx="284196" cy="2841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737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234440" y="193852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Jeep safari or camel trek into the desert and mountains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243072"/>
            <a:ext cx="384048" cy="38404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icons/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3292998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215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234440" y="341680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 Bedouin camp; traditional tea and lunch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4721352"/>
            <a:ext cx="384048" cy="384048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icons/m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4771278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469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234440" y="489508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Stargazing dinner in the desert — bonfire and local music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99632" y="114300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9632" y="1143000"/>
            <a:ext cx="544068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21" name="Shape 16"/>
          <p:cNvSpPr/>
          <p:nvPr/>
        </p:nvSpPr>
        <p:spPr>
          <a:xfrm>
            <a:off x="6199632" y="1399032"/>
            <a:ext cx="5440680" cy="2468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17"/>
          <p:cNvSpPr/>
          <p:nvPr/>
        </p:nvSpPr>
        <p:spPr>
          <a:xfrm>
            <a:off x="6382512" y="1143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 — Mount Sinai &amp; St. Catherine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382512" y="176479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4" name="Image 3" descr="icons/hi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438" y="1814718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85432" y="17373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885432" y="193852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departure for St. Catherine; hike Mount Sinai for sunrise (or a relaxed lagoon morning)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82512" y="324307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icons/mount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38" y="3292998"/>
            <a:ext cx="284196" cy="2841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85432" y="32156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6885432" y="341680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St. Catherine's Monastery, or snorkel at Three Pools &amp; Blue Lagoon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382512" y="4721352"/>
            <a:ext cx="384048" cy="38404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2" name="Image 5" descr="icons/mo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438" y="4771278"/>
            <a:ext cx="284196" cy="2841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85432" y="4693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885432" y="4895088"/>
            <a:ext cx="4572000" cy="1258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Dahab; casual dinner and shopping at local markets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 &amp; Departure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1228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72768" y="160020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icon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866" y="169529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388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4108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swim/snorkel session or a relaxed breakfast by the sea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95828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51860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60020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icon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498" y="169529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9020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Morning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4740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souvenir shopping — crafts, spices, jewelry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966460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222492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14032" y="1600200"/>
            <a:ext cx="731520" cy="73152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0" y="169529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9652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5372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hotel checkout by 12:00 PM; settle any bills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737092" y="2240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8993124" y="1371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84664" y="160020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icons/b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9762" y="1695298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30284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Afternoon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176004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back to Cairo or Sharm El Sheikh Airport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023360"/>
            <a:ext cx="11091672" cy="1737360"/>
          </a:xfrm>
          <a:prstGeom prst="roundRect">
            <a:avLst>
              <a:gd name="adj" fmla="val 6316"/>
            </a:avLst>
          </a:prstGeom>
          <a:solidFill>
            <a:srgbClr val="0B2E4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8680" y="4343400"/>
            <a:ext cx="1051560" cy="105156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4" descr="icons/suitc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3" y="4480103"/>
            <a:ext cx="778154" cy="77815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148840" y="42519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Reminder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2148840" y="46634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all dive gear, chargers, and souvenirs before leaving your accommodation — a final sweep of the room takes two minutes and saves a lot of hassle at the airport.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Breakdown &amp; Essentials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57784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55080" y="1143000"/>
            <a:ext cx="548640" cy="54864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icons/mon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03" y="1214323"/>
            <a:ext cx="405994" cy="4059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1097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(4 nights)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040880" y="1389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3,000 – 5,000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355080" y="1947672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icons/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2018995"/>
            <a:ext cx="405994" cy="4059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40880" y="1901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(5 days)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4088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1,500 – 2,000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355080" y="2752344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icons/wa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403" y="2823667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0" y="27066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(diving, safari, snorkel)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7040880" y="2999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2,500 – 3,500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355080" y="3557016"/>
            <a:ext cx="548640" cy="548640"/>
          </a:xfrm>
          <a:prstGeom prst="ellipse">
            <a:avLst/>
          </a:prstGeom>
          <a:solidFill>
            <a:srgbClr val="5B7686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icons/b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403" y="3628339"/>
            <a:ext cx="405994" cy="4059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40880" y="35112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Transport / Transfers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040880" y="38039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800 – 1,200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355080" y="4361688"/>
            <a:ext cx="548640" cy="548640"/>
          </a:xfrm>
          <a:prstGeom prst="ellipse">
            <a:avLst/>
          </a:prstGeom>
          <a:solidFill>
            <a:srgbClr val="9BB6C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403" y="4433011"/>
            <a:ext cx="405994" cy="4059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40880" y="4315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7040880" y="46085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500 – 1,000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355080" y="51663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0B2E4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492240" y="51663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Estimated Range: EGP 8,000 – 12,000 / person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Checklist &amp; Travel Tips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516636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List</a:t>
            </a:r>
            <a:endParaRPr lang="en-US" sz="1800" dirty="0"/>
          </a:p>
        </p:txBody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4708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8470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2808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810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Swimwear &amp; quick-dry clothing</a:t>
            </a:r>
            <a:endParaRPr lang="en-US" sz="1300" dirty="0"/>
          </a:p>
        </p:txBody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50008"/>
            <a:ext cx="256032" cy="2560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68680" y="23500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95728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2313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Reef-safe sunscreen</a:t>
            </a:r>
            <a:endParaRPr lang="en-US" sz="1300" dirty="0"/>
          </a:p>
        </p:txBody>
      </p:sp>
      <p:pic>
        <p:nvPicPr>
          <p:cNvPr id="13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52928"/>
            <a:ext cx="256032" cy="25603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68680" y="285292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898648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80160" y="2816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cotton clothing</a:t>
            </a:r>
            <a:endParaRPr lang="en-US" sz="1300" dirty="0"/>
          </a:p>
        </p:txBody>
      </p:sp>
      <p:pic>
        <p:nvPicPr>
          <p:cNvPr id="17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355848"/>
            <a:ext cx="256032" cy="256032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68680" y="335584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401568"/>
            <a:ext cx="164592" cy="1645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8016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&amp; water shoes</a:t>
            </a:r>
            <a:endParaRPr lang="en-US" sz="1300" dirty="0"/>
          </a:p>
        </p:txBody>
      </p:sp>
      <p:pic>
        <p:nvPicPr>
          <p:cNvPr id="21" name="Image 8" descr="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3858768"/>
            <a:ext cx="256032" cy="256032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868680" y="385876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9" descr="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904488"/>
            <a:ext cx="164592" cy="16459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280160" y="3822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jacket (cool desert nights)</a:t>
            </a:r>
            <a:endParaRPr lang="en-US" sz="1300" dirty="0"/>
          </a:p>
        </p:txBody>
      </p:sp>
      <p:pic>
        <p:nvPicPr>
          <p:cNvPr id="25" name="Image 10" descr="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4361688"/>
            <a:ext cx="256032" cy="256032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868680" y="436168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11" descr="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407408"/>
            <a:ext cx="164592" cy="16459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28016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Snorkel gear (optional)</a:t>
            </a:r>
            <a:endParaRPr lang="en-US" sz="1300" dirty="0"/>
          </a:p>
        </p:txBody>
      </p:sp>
      <p:pic>
        <p:nvPicPr>
          <p:cNvPr id="29" name="Image 12" descr="icons/che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8680" y="4864608"/>
            <a:ext cx="256032" cy="256032"/>
          </a:xfrm>
          <a:prstGeom prst="rect">
            <a:avLst/>
          </a:prstGeom>
        </p:spPr>
      </p:pic>
      <p:sp>
        <p:nvSpPr>
          <p:cNvPr id="30" name="Shape 15"/>
          <p:cNvSpPr/>
          <p:nvPr/>
        </p:nvSpPr>
        <p:spPr>
          <a:xfrm>
            <a:off x="868680" y="4864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13" descr="icons/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910328"/>
            <a:ext cx="164592" cy="16459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1280160" y="4828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 &amp; chargers</a:t>
            </a:r>
            <a:endParaRPr lang="en-US" sz="1300" dirty="0"/>
          </a:p>
        </p:txBody>
      </p:sp>
      <p:pic>
        <p:nvPicPr>
          <p:cNvPr id="33" name="Image 14" descr="icons/che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8680" y="5367528"/>
            <a:ext cx="256032" cy="256032"/>
          </a:xfrm>
          <a:prstGeom prst="rect">
            <a:avLst/>
          </a:prstGeom>
        </p:spPr>
      </p:pic>
      <p:sp>
        <p:nvSpPr>
          <p:cNvPr id="34" name="Shape 17"/>
          <p:cNvSpPr/>
          <p:nvPr/>
        </p:nvSpPr>
        <p:spPr>
          <a:xfrm>
            <a:off x="868680" y="536752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15" descr="icons/che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5413248"/>
            <a:ext cx="164592" cy="164592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128016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+ ID copies</a:t>
            </a:r>
            <a:endParaRPr lang="en-US" sz="1300" dirty="0"/>
          </a:p>
        </p:txBody>
      </p:sp>
      <p:sp>
        <p:nvSpPr>
          <p:cNvPr id="37" name="Shape 19"/>
          <p:cNvSpPr/>
          <p:nvPr/>
        </p:nvSpPr>
        <p:spPr>
          <a:xfrm>
            <a:off x="6199632" y="1143000"/>
            <a:ext cx="5440680" cy="5166360"/>
          </a:xfrm>
          <a:prstGeom prst="roundRect">
            <a:avLst>
              <a:gd name="adj" fmla="val 1770"/>
            </a:avLst>
          </a:prstGeom>
          <a:solidFill>
            <a:srgbClr val="0B2E44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38" name="Text 20"/>
          <p:cNvSpPr/>
          <p:nvPr/>
        </p:nvSpPr>
        <p:spPr>
          <a:xfrm>
            <a:off x="6473952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Tips</a:t>
            </a:r>
            <a:endParaRPr lang="en-US" sz="1800" dirty="0"/>
          </a:p>
        </p:txBody>
      </p:sp>
      <p:sp>
        <p:nvSpPr>
          <p:cNvPr id="39" name="Shape 21"/>
          <p:cNvSpPr/>
          <p:nvPr/>
        </p:nvSpPr>
        <p:spPr>
          <a:xfrm>
            <a:off x="6473952" y="187452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0" name="Image 16" descr="icons/bul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3388" y="1933956"/>
            <a:ext cx="338328" cy="338328"/>
          </a:xfrm>
          <a:prstGeom prst="rect">
            <a:avLst/>
          </a:prstGeom>
        </p:spPr>
      </p:pic>
      <p:sp>
        <p:nvSpPr>
          <p:cNvPr id="41" name="Text 22"/>
          <p:cNvSpPr/>
          <p:nvPr/>
        </p:nvSpPr>
        <p:spPr>
          <a:xfrm>
            <a:off x="7086600" y="1874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diving trips a day in advance to guarantee a spot</a:t>
            </a:r>
            <a:endParaRPr lang="en-US" sz="1250" dirty="0"/>
          </a:p>
        </p:txBody>
      </p:sp>
      <p:sp>
        <p:nvSpPr>
          <p:cNvPr id="42" name="Shape 23"/>
          <p:cNvSpPr/>
          <p:nvPr/>
        </p:nvSpPr>
        <p:spPr>
          <a:xfrm>
            <a:off x="6473952" y="2633472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3" name="Image 17" descr="icons/mone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3388" y="2692908"/>
            <a:ext cx="338328" cy="33832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7086600" y="26334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cash — small shops and cafés rarely take cards</a:t>
            </a:r>
            <a:endParaRPr lang="en-US" sz="1250" dirty="0"/>
          </a:p>
        </p:txBody>
      </p:sp>
      <p:sp>
        <p:nvSpPr>
          <p:cNvPr id="45" name="Shape 25"/>
          <p:cNvSpPr/>
          <p:nvPr/>
        </p:nvSpPr>
        <p:spPr>
          <a:xfrm>
            <a:off x="6473952" y="3392424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6" name="Image 18" descr="icons/shiel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3388" y="3451860"/>
            <a:ext cx="338328" cy="338328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7086600" y="33924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local dress codes away from the beach</a:t>
            </a:r>
            <a:endParaRPr lang="en-US" sz="1250" dirty="0"/>
          </a:p>
        </p:txBody>
      </p:sp>
      <p:sp>
        <p:nvSpPr>
          <p:cNvPr id="48" name="Shape 27"/>
          <p:cNvSpPr/>
          <p:nvPr/>
        </p:nvSpPr>
        <p:spPr>
          <a:xfrm>
            <a:off x="6473952" y="415137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9" name="Image 19" descr="icons/wate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3388" y="4210812"/>
            <a:ext cx="338328" cy="338328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7086600" y="415137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hydrated during desert excursions</a:t>
            </a:r>
            <a:endParaRPr lang="en-US" sz="1250" dirty="0"/>
          </a:p>
        </p:txBody>
      </p:sp>
      <p:sp>
        <p:nvSpPr>
          <p:cNvPr id="51" name="Shape 29"/>
          <p:cNvSpPr/>
          <p:nvPr/>
        </p:nvSpPr>
        <p:spPr>
          <a:xfrm>
            <a:off x="6473952" y="4910328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2" name="Image 20" descr="icons/passpor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3388" y="4969764"/>
            <a:ext cx="338328" cy="338328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7086600" y="49103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travel insurance &amp; emergency contacts handy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2026-08-22T22:43:57Z</dcterms:created>
  <dcterms:modified xsi:type="dcterms:W3CDTF">2026-08-22T22:43:57Z</dcterms:modified>
</cp:coreProperties>
</file>